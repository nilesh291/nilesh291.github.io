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Roboto Bold Italics" charset="1" panose="02000000000000000000"/>
      <p:regular r:id="rId18"/>
    </p:embeddedFont>
    <p:embeddedFont>
      <p:font typeface="Sailors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png" Type="http://schemas.openxmlformats.org/officeDocument/2006/relationships/image"/><Relationship Id="rId19" Target="../media/image36.png" Type="http://schemas.openxmlformats.org/officeDocument/2006/relationships/image"/><Relationship Id="rId2" Target="../media/image19.png" Type="http://schemas.openxmlformats.org/officeDocument/2006/relationships/image"/><Relationship Id="rId20" Target="../media/image37.png" Type="http://schemas.openxmlformats.org/officeDocument/2006/relationships/image"/><Relationship Id="rId21" Target="../media/image38.png" Type="http://schemas.openxmlformats.org/officeDocument/2006/relationships/image"/><Relationship Id="rId22" Target="../media/image39.png" Type="http://schemas.openxmlformats.org/officeDocument/2006/relationships/image"/><Relationship Id="rId23" Target="../media/image40.png" Type="http://schemas.openxmlformats.org/officeDocument/2006/relationships/image"/><Relationship Id="rId24" Target="../media/image41.png" Type="http://schemas.openxmlformats.org/officeDocument/2006/relationships/image"/><Relationship Id="rId25" Target="../media/image42.png" Type="http://schemas.openxmlformats.org/officeDocument/2006/relationships/image"/><Relationship Id="rId26" Target="../media/image43.png" Type="http://schemas.openxmlformats.org/officeDocument/2006/relationships/image"/><Relationship Id="rId27" Target="../media/image44.png" Type="http://schemas.openxmlformats.org/officeDocument/2006/relationships/image"/><Relationship Id="rId28" Target="../media/image45.png" Type="http://schemas.openxmlformats.org/officeDocument/2006/relationships/image"/><Relationship Id="rId29" Target="../media/image46.png" Type="http://schemas.openxmlformats.org/officeDocument/2006/relationships/image"/><Relationship Id="rId3" Target="../media/image20.png" Type="http://schemas.openxmlformats.org/officeDocument/2006/relationships/image"/><Relationship Id="rId30" Target="../media/image47.png" Type="http://schemas.openxmlformats.org/officeDocument/2006/relationships/image"/><Relationship Id="rId31" Target="../media/image48.png" Type="http://schemas.openxmlformats.org/officeDocument/2006/relationships/image"/><Relationship Id="rId32" Target="../media/image49.png" Type="http://schemas.openxmlformats.org/officeDocument/2006/relationships/image"/><Relationship Id="rId33" Target="../media/image50.png" Type="http://schemas.openxmlformats.org/officeDocument/2006/relationships/image"/><Relationship Id="rId34" Target="../media/image51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15" Target="../media/image65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png" Type="http://schemas.openxmlformats.org/officeDocument/2006/relationships/image"/><Relationship Id="rId2" Target="../media/image66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Relationship Id="rId8" Target="../media/image72.pn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2" Target="../media/image76.pn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100.png" Type="http://schemas.openxmlformats.org/officeDocument/2006/relationships/image"/><Relationship Id="rId5" Target="../media/image101.png" Type="http://schemas.openxmlformats.org/officeDocument/2006/relationships/image"/><Relationship Id="rId6" Target="../media/image102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5.png" Type="http://schemas.openxmlformats.org/officeDocument/2006/relationships/image"/><Relationship Id="rId3" Target="../media/image106.png" Type="http://schemas.openxmlformats.org/officeDocument/2006/relationships/image"/><Relationship Id="rId4" Target="../media/image107.pn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1110" y="2142670"/>
            <a:ext cx="11550316" cy="7291635"/>
          </a:xfrm>
          <a:custGeom>
            <a:avLst/>
            <a:gdLst/>
            <a:ahLst/>
            <a:cxnLst/>
            <a:rect r="r" b="b" t="t" l="l"/>
            <a:pathLst>
              <a:path h="7291635" w="11550316">
                <a:moveTo>
                  <a:pt x="0" y="0"/>
                </a:moveTo>
                <a:lnTo>
                  <a:pt x="11550316" y="0"/>
                </a:lnTo>
                <a:lnTo>
                  <a:pt x="11550316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4367" y="1062528"/>
            <a:ext cx="6178163" cy="66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4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An Empirical Analysis of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8430" y="1819255"/>
            <a:ext cx="7092986" cy="359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3"/>
              </a:lnSpc>
            </a:pPr>
            <a:r>
              <a:rPr lang="en-US" sz="8938" spc="-17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Monolithic vs Microservices</a:t>
            </a:r>
          </a:p>
          <a:p>
            <a:pPr algn="l">
              <a:lnSpc>
                <a:spcPts val="9383"/>
              </a:lnSpc>
            </a:pPr>
            <a:r>
              <a:rPr lang="en-US" sz="8938" spc="-17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5655" y="5545122"/>
            <a:ext cx="5370437" cy="135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530" spc="-90" b="true">
                <a:solidFill>
                  <a:srgbClr val="E86A32"/>
                </a:solidFill>
                <a:latin typeface="Roboto Bold"/>
                <a:ea typeface="Roboto Bold"/>
                <a:cs typeface="Roboto Bold"/>
                <a:sym typeface="Roboto Bold"/>
              </a:rPr>
              <a:t>in Low Resource</a:t>
            </a:r>
          </a:p>
          <a:p>
            <a:pPr algn="l">
              <a:lnSpc>
                <a:spcPts val="5437"/>
              </a:lnSpc>
            </a:pPr>
            <a:r>
              <a:rPr lang="en-US" sz="4530" spc="-90" b="true">
                <a:solidFill>
                  <a:srgbClr val="E86A32"/>
                </a:solidFill>
                <a:latin typeface="Roboto Bold"/>
                <a:ea typeface="Roboto Bold"/>
                <a:cs typeface="Roboto Bold"/>
                <a:sym typeface="Roboto Bold"/>
              </a:rPr>
              <a:t>Student Environment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7280704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3689" y="7900149"/>
            <a:ext cx="1245934" cy="52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3478" spc="-3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Nilesh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30071" y="8643666"/>
            <a:ext cx="2950057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12"/>
              </a:lnSpc>
            </a:pPr>
            <a:r>
              <a:rPr lang="en-US" b="true" sz="2759" spc="26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MICROSERVICES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1956445">
            <a:off x="7615405" y="7319813"/>
            <a:ext cx="2270034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i="true" spc="-26">
                <a:solidFill>
                  <a:srgbClr val="F6F6F6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MONOLITHIC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237780" cy="10287000"/>
          </a:xfrm>
          <a:custGeom>
            <a:avLst/>
            <a:gdLst/>
            <a:ahLst/>
            <a:cxnLst/>
            <a:rect r="r" b="b" t="t" l="l"/>
            <a:pathLst>
              <a:path h="10287000" w="10237780">
                <a:moveTo>
                  <a:pt x="0" y="0"/>
                </a:moveTo>
                <a:lnTo>
                  <a:pt x="10237780" y="0"/>
                </a:lnTo>
                <a:lnTo>
                  <a:pt x="10237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7538" y="913015"/>
            <a:ext cx="6934488" cy="217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7769" spc="75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 and Motivation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421712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0752" y="4014452"/>
            <a:ext cx="6291965" cy="100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32" b="true">
                <a:solidFill>
                  <a:srgbClr val="E06D28"/>
                </a:solidFill>
                <a:latin typeface="Roboto Bold"/>
                <a:ea typeface="Roboto Bold"/>
                <a:cs typeface="Roboto Bold"/>
                <a:sym typeface="Roboto Bold"/>
              </a:rPr>
              <a:t>Choosing the right architecture shapes every success.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3672" y="5342669"/>
            <a:ext cx="6161484" cy="75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Monolithic architecture unifies everything into a single application.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672" y="6427050"/>
            <a:ext cx="6161484" cy="75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Microservices architecture splits functionality into independent services.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672" y="7511430"/>
            <a:ext cx="6161484" cy="75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The decision impacts maintainability, scalability, and speed.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672" y="8640994"/>
            <a:ext cx="6161484" cy="75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This presentation compares both approaches to guide better architectural choices.</a:t>
            </a:r>
          </a:p>
        </p:txBody>
      </p:sp>
      <p:sp>
        <p:nvSpPr>
          <p:cNvPr name="TextBox 11" id="11"/>
          <p:cNvSpPr txBox="true"/>
          <p:nvPr/>
        </p:nvSpPr>
        <p:spPr>
          <a:xfrm rot="-437695">
            <a:off x="12080559" y="810445"/>
            <a:ext cx="1741289" cy="32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6"/>
              </a:lnSpc>
            </a:pPr>
            <a:r>
              <a:rPr lang="en-US" b="true" sz="2188" spc="21">
                <a:solidFill>
                  <a:srgbClr val="FFFFFF">
                    <a:alpha val="39608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MONOLITHIC</a:t>
            </a:r>
          </a:p>
        </p:txBody>
      </p:sp>
      <p:sp>
        <p:nvSpPr>
          <p:cNvPr name="TextBox 12" id="12"/>
          <p:cNvSpPr txBox="true"/>
          <p:nvPr/>
        </p:nvSpPr>
        <p:spPr>
          <a:xfrm rot="-437695">
            <a:off x="14758827" y="483305"/>
            <a:ext cx="2116336" cy="29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b="true" sz="2055" spc="20">
                <a:solidFill>
                  <a:srgbClr val="FFFFFF">
                    <a:alpha val="39608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MICROSERVICES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965952" y="1279043"/>
            <a:ext cx="1750048" cy="2153601"/>
          </a:xfrm>
          <a:custGeom>
            <a:avLst/>
            <a:gdLst/>
            <a:ahLst/>
            <a:cxnLst/>
            <a:rect r="r" b="b" t="t" l="l"/>
            <a:pathLst>
              <a:path h="2153601" w="1750048">
                <a:moveTo>
                  <a:pt x="0" y="0"/>
                </a:moveTo>
                <a:lnTo>
                  <a:pt x="1750048" y="0"/>
                </a:lnTo>
                <a:lnTo>
                  <a:pt x="1750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142574" y="852695"/>
            <a:ext cx="3937608" cy="4722618"/>
          </a:xfrm>
          <a:custGeom>
            <a:avLst/>
            <a:gdLst/>
            <a:ahLst/>
            <a:cxnLst/>
            <a:rect r="r" b="b" t="t" l="l"/>
            <a:pathLst>
              <a:path h="4722618" w="3937608">
                <a:moveTo>
                  <a:pt x="0" y="0"/>
                </a:moveTo>
                <a:lnTo>
                  <a:pt x="3937608" y="0"/>
                </a:lnTo>
                <a:lnTo>
                  <a:pt x="3937608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3421712"/>
            <a:ext cx="8279914" cy="4514911"/>
          </a:xfrm>
          <a:custGeom>
            <a:avLst/>
            <a:gdLst/>
            <a:ahLst/>
            <a:cxnLst/>
            <a:rect r="r" b="b" t="t" l="l"/>
            <a:pathLst>
              <a:path h="4514911" w="8279914">
                <a:moveTo>
                  <a:pt x="0" y="0"/>
                </a:moveTo>
                <a:lnTo>
                  <a:pt x="8279914" y="0"/>
                </a:lnTo>
                <a:lnTo>
                  <a:pt x="8279914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00440" y="5356674"/>
            <a:ext cx="2187560" cy="1934962"/>
          </a:xfrm>
          <a:custGeom>
            <a:avLst/>
            <a:gdLst/>
            <a:ahLst/>
            <a:cxnLst/>
            <a:rect r="r" b="b" t="t" l="l"/>
            <a:pathLst>
              <a:path h="1934962" w="2187560">
                <a:moveTo>
                  <a:pt x="0" y="0"/>
                </a:moveTo>
                <a:lnTo>
                  <a:pt x="2187560" y="0"/>
                </a:lnTo>
                <a:lnTo>
                  <a:pt x="218756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31464" y="7062064"/>
            <a:ext cx="8936182" cy="3224936"/>
          </a:xfrm>
          <a:custGeom>
            <a:avLst/>
            <a:gdLst/>
            <a:ahLst/>
            <a:cxnLst/>
            <a:rect r="r" b="b" t="t" l="l"/>
            <a:pathLst>
              <a:path h="3224936" w="8936182">
                <a:moveTo>
                  <a:pt x="0" y="0"/>
                </a:moveTo>
                <a:lnTo>
                  <a:pt x="8936182" y="0"/>
                </a:lnTo>
                <a:lnTo>
                  <a:pt x="893618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747196" y="8352038"/>
            <a:ext cx="2187560" cy="1727254"/>
          </a:xfrm>
          <a:custGeom>
            <a:avLst/>
            <a:gdLst/>
            <a:ahLst/>
            <a:cxnLst/>
            <a:rect r="r" b="b" t="t" l="l"/>
            <a:pathLst>
              <a:path h="1727254" w="2187560">
                <a:moveTo>
                  <a:pt x="0" y="0"/>
                </a:moveTo>
                <a:lnTo>
                  <a:pt x="2187560" y="0"/>
                </a:lnTo>
                <a:lnTo>
                  <a:pt x="218756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371" y="839072"/>
            <a:ext cx="4351197" cy="250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00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Monolithic</a:t>
            </a:r>
          </a:p>
          <a:p>
            <a:pPr algn="l">
              <a:lnSpc>
                <a:spcPts val="6606"/>
              </a:lnSpc>
            </a:pPr>
            <a:r>
              <a:rPr lang="en-US" sz="600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Architecture</a:t>
            </a:r>
          </a:p>
          <a:p>
            <a:pPr algn="l">
              <a:lnSpc>
                <a:spcPts val="6606"/>
              </a:lnSpc>
            </a:pPr>
            <a:r>
              <a:rPr lang="en-US" sz="600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640352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3661" y="4270486"/>
            <a:ext cx="5322156" cy="100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b="true">
                <a:solidFill>
                  <a:srgbClr val="E26A1D"/>
                </a:solidFill>
                <a:latin typeface="Roboto Bold"/>
                <a:ea typeface="Roboto Bold"/>
                <a:cs typeface="Roboto Bold"/>
                <a:sym typeface="Roboto Bold"/>
              </a:rPr>
              <a:t>One unified application. Everything works together.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4480" y="5746449"/>
            <a:ext cx="2240305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Simple to deploy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099" y="6499491"/>
            <a:ext cx="427840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Fast in memory communication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3596" y="7252533"/>
            <a:ext cx="2328660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Easier debugging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1782" y="8005575"/>
            <a:ext cx="3510039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Built as a single codebase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29866" y="1071335"/>
            <a:ext cx="8498670" cy="9007957"/>
          </a:xfrm>
          <a:custGeom>
            <a:avLst/>
            <a:gdLst/>
            <a:ahLst/>
            <a:cxnLst/>
            <a:rect r="r" b="b" t="t" l="l"/>
            <a:pathLst>
              <a:path h="9007957" w="8498670">
                <a:moveTo>
                  <a:pt x="0" y="0"/>
                </a:moveTo>
                <a:lnTo>
                  <a:pt x="8498670" y="0"/>
                </a:lnTo>
                <a:lnTo>
                  <a:pt x="8498670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16000" y="5356674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61330" y="7062064"/>
            <a:ext cx="3281340" cy="2372241"/>
          </a:xfrm>
          <a:custGeom>
            <a:avLst/>
            <a:gdLst/>
            <a:ahLst/>
            <a:cxnLst/>
            <a:rect r="r" b="b" t="t" l="l"/>
            <a:pathLst>
              <a:path h="2372241" w="3281340">
                <a:moveTo>
                  <a:pt x="0" y="0"/>
                </a:moveTo>
                <a:lnTo>
                  <a:pt x="3281340" y="0"/>
                </a:lnTo>
                <a:lnTo>
                  <a:pt x="328134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36354" y="5356674"/>
            <a:ext cx="2406316" cy="3224936"/>
          </a:xfrm>
          <a:custGeom>
            <a:avLst/>
            <a:gdLst/>
            <a:ahLst/>
            <a:cxnLst/>
            <a:rect r="r" b="b" t="t" l="l"/>
            <a:pathLst>
              <a:path h="3224936" w="2406316">
                <a:moveTo>
                  <a:pt x="0" y="0"/>
                </a:moveTo>
                <a:lnTo>
                  <a:pt x="2406316" y="0"/>
                </a:lnTo>
                <a:lnTo>
                  <a:pt x="240631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959765">
            <a:off x="10338122" y="2116970"/>
            <a:ext cx="2386941" cy="86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b="true" sz="2896" i="true">
                <a:solidFill>
                  <a:srgbClr val="FFFFFF">
                    <a:alpha val="89804"/>
                  </a:srgbClr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UNIFIED</a:t>
            </a:r>
          </a:p>
          <a:p>
            <a:pPr algn="ctr">
              <a:lnSpc>
                <a:spcPts val="3475"/>
              </a:lnSpc>
            </a:pPr>
            <a:r>
              <a:rPr lang="en-US" b="true" sz="2896" i="true">
                <a:solidFill>
                  <a:srgbClr val="FFFFFF">
                    <a:alpha val="89804"/>
                  </a:srgbClr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APPLICATION</a:t>
            </a:r>
          </a:p>
        </p:txBody>
      </p:sp>
      <p:sp>
        <p:nvSpPr>
          <p:cNvPr name="TextBox 15" id="15"/>
          <p:cNvSpPr txBox="true"/>
          <p:nvPr/>
        </p:nvSpPr>
        <p:spPr>
          <a:xfrm rot="959765">
            <a:off x="9259476" y="7117169"/>
            <a:ext cx="272043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spc="-115">
                <a:solidFill>
                  <a:srgbClr val="E26A1D"/>
                </a:solidFill>
                <a:latin typeface="Roboto"/>
                <a:ea typeface="Roboto"/>
                <a:cs typeface="Roboto"/>
                <a:sym typeface="Roboto"/>
              </a:rPr>
              <a:t>Database Connector</a:t>
            </a:r>
          </a:p>
        </p:txBody>
      </p:sp>
      <p:sp>
        <p:nvSpPr>
          <p:cNvPr name="TextBox 16" id="16"/>
          <p:cNvSpPr txBox="true"/>
          <p:nvPr/>
        </p:nvSpPr>
        <p:spPr>
          <a:xfrm rot="959765">
            <a:off x="9430436" y="6093032"/>
            <a:ext cx="237851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spc="-115">
                <a:solidFill>
                  <a:srgbClr val="6BB8D9"/>
                </a:solidFill>
                <a:latin typeface="Roboto"/>
                <a:ea typeface="Roboto"/>
                <a:cs typeface="Roboto"/>
                <a:sym typeface="Roboto"/>
              </a:rPr>
              <a:t>Data Access Layer</a:t>
            </a:r>
          </a:p>
        </p:txBody>
      </p:sp>
      <p:sp>
        <p:nvSpPr>
          <p:cNvPr name="TextBox 17" id="17"/>
          <p:cNvSpPr txBox="true"/>
          <p:nvPr/>
        </p:nvSpPr>
        <p:spPr>
          <a:xfrm rot="959765">
            <a:off x="9713635" y="5068895"/>
            <a:ext cx="1812114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spc="-115">
                <a:solidFill>
                  <a:srgbClr val="E26A1D"/>
                </a:solidFill>
                <a:latin typeface="Roboto"/>
                <a:ea typeface="Roboto"/>
                <a:cs typeface="Roboto"/>
                <a:sym typeface="Roboto"/>
              </a:rPr>
              <a:t>Business Logic</a:t>
            </a:r>
          </a:p>
        </p:txBody>
      </p:sp>
      <p:sp>
        <p:nvSpPr>
          <p:cNvPr name="TextBox 18" id="18"/>
          <p:cNvSpPr txBox="true"/>
          <p:nvPr/>
        </p:nvSpPr>
        <p:spPr>
          <a:xfrm rot="959765">
            <a:off x="9713787" y="4074879"/>
            <a:ext cx="1811810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spc="-115">
                <a:solidFill>
                  <a:srgbClr val="6BB8D9"/>
                </a:solidFill>
                <a:latin typeface="Roboto"/>
                <a:ea typeface="Roboto"/>
                <a:cs typeface="Roboto"/>
                <a:sym typeface="Roboto"/>
              </a:rPr>
              <a:t>User Interface</a:t>
            </a:r>
          </a:p>
        </p:txBody>
      </p:sp>
      <p:sp>
        <p:nvSpPr>
          <p:cNvPr name="TextBox 19" id="19"/>
          <p:cNvSpPr txBox="true"/>
          <p:nvPr/>
        </p:nvSpPr>
        <p:spPr>
          <a:xfrm rot="216210">
            <a:off x="15754566" y="7273086"/>
            <a:ext cx="1412984" cy="51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3"/>
              </a:lnSpc>
            </a:pPr>
            <a:r>
              <a:rPr lang="en-US" sz="2619" spc="-130">
                <a:solidFill>
                  <a:srgbClr val="6BB8D9"/>
                </a:solidFill>
                <a:latin typeface="Sailors"/>
                <a:ea typeface="Sailors"/>
                <a:cs typeface="Sailors"/>
                <a:sym typeface="Sailors"/>
              </a:rP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1819" y="874733"/>
            <a:ext cx="7864148" cy="181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7"/>
              </a:lnSpc>
            </a:pPr>
            <a:r>
              <a:rPr lang="en-US" sz="6343" spc="-12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Microservices Architecture 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467" y="3484817"/>
            <a:ext cx="3199431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b="true">
                <a:solidFill>
                  <a:srgbClr val="E16B15"/>
                </a:solidFill>
                <a:latin typeface="Roboto Bold"/>
                <a:ea typeface="Roboto Bold"/>
                <a:cs typeface="Roboto Bold"/>
                <a:sym typeface="Roboto Bold"/>
              </a:rPr>
              <a:t>BUILT FOR CHANGE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8484" y="4041989"/>
            <a:ext cx="4197741" cy="122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2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Small, independent services communicate over HTTP REST or event streams.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5655" y="5698760"/>
            <a:ext cx="2480593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b="true">
                <a:solidFill>
                  <a:srgbClr val="E16B15"/>
                </a:solidFill>
                <a:latin typeface="Roboto Bold"/>
                <a:ea typeface="Roboto Bold"/>
                <a:cs typeface="Roboto Bold"/>
                <a:sym typeface="Roboto Bold"/>
              </a:rPr>
              <a:t>WHY IT WORKS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951" y="6221239"/>
            <a:ext cx="3550949" cy="132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2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Independent deployability</a:t>
            </a:r>
          </a:p>
          <a:p>
            <a:pPr algn="l">
              <a:lnSpc>
                <a:spcPts val="3599"/>
              </a:lnSpc>
            </a:pPr>
            <a:r>
              <a:rPr lang="en-US" sz="2399" spc="-2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Fault isolation</a:t>
            </a:r>
          </a:p>
          <a:p>
            <a:pPr algn="l">
              <a:lnSpc>
                <a:spcPts val="3599"/>
              </a:lnSpc>
            </a:pPr>
            <a:r>
              <a:rPr lang="en-US" sz="2399" spc="-2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Technology heterogeneity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9362" y="8048252"/>
            <a:ext cx="3109877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b="true">
                <a:solidFill>
                  <a:srgbClr val="E16B15"/>
                </a:solidFill>
                <a:latin typeface="Roboto Bold"/>
                <a:ea typeface="Roboto Bold"/>
                <a:cs typeface="Roboto Bold"/>
                <a:sym typeface="Roboto Bold"/>
              </a:rPr>
              <a:t>WHAT TO MANAGE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2667" y="8570731"/>
            <a:ext cx="4779369" cy="132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2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Operational complexity</a:t>
            </a:r>
          </a:p>
          <a:p>
            <a:pPr algn="l">
              <a:lnSpc>
                <a:spcPts val="3599"/>
              </a:lnSpc>
            </a:pPr>
            <a:r>
              <a:rPr lang="en-US" sz="2399" spc="-2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Network latency</a:t>
            </a:r>
          </a:p>
          <a:p>
            <a:pPr algn="l">
              <a:lnSpc>
                <a:spcPts val="3599"/>
              </a:lnSpc>
            </a:pPr>
            <a:r>
              <a:rPr lang="en-US" sz="2399" spc="-2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Distributed consistency challenges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92354" y="8778386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2354" y="9204733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75196" y="2776725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31464" y="3214004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25244" y="3421712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89330" y="2569017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26842" y="3214004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43313" y="3747386"/>
            <a:ext cx="1090510" cy="47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API</a:t>
            </a:r>
          </a:p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GATEWAY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144000" y="4493047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68976" y="5138034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925244" y="5783021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739598" y="6428216"/>
            <a:ext cx="922748" cy="47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USER</a:t>
            </a:r>
          </a:p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SERVICE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144000" y="7062064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487732" y="7707051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664354" y="5138034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320622" y="5783021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083667" y="6428216"/>
            <a:ext cx="1056640" cy="47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PRODUCT</a:t>
            </a:r>
          </a:p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SERVICE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320622" y="7062064"/>
            <a:ext cx="437512" cy="1082267"/>
          </a:xfrm>
          <a:custGeom>
            <a:avLst/>
            <a:gdLst/>
            <a:ahLst/>
            <a:cxnLst/>
            <a:rect r="r" b="b" t="t" l="l"/>
            <a:pathLst>
              <a:path h="1082267" w="437512">
                <a:moveTo>
                  <a:pt x="0" y="0"/>
                </a:moveTo>
                <a:lnTo>
                  <a:pt x="437512" y="0"/>
                </a:lnTo>
                <a:lnTo>
                  <a:pt x="43751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883110" y="7707051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059732" y="5138034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716000" y="5783021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588418" y="6428216"/>
            <a:ext cx="922748" cy="47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ORDER</a:t>
            </a:r>
          </a:p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SERVICE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923818" y="7062064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278488" y="7707051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455110" y="5138034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100440" y="5783021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5808566" y="6428216"/>
            <a:ext cx="1090170" cy="47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PAYMENT</a:t>
            </a:r>
          </a:p>
          <a:p>
            <a:pPr algn="ctr">
              <a:lnSpc>
                <a:spcPts val="1961"/>
              </a:lnSpc>
            </a:pPr>
            <a:r>
              <a:rPr lang="en-US" b="true" sz="1784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SERVICE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6100440" y="7062064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673866" y="7707051"/>
            <a:ext cx="1312536" cy="1727254"/>
          </a:xfrm>
          <a:custGeom>
            <a:avLst/>
            <a:gdLst/>
            <a:ahLst/>
            <a:cxnLst/>
            <a:rect r="r" b="b" t="t" l="l"/>
            <a:pathLst>
              <a:path h="1727254" w="1312536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361330" y="1705390"/>
            <a:ext cx="2187560" cy="1519546"/>
          </a:xfrm>
          <a:custGeom>
            <a:avLst/>
            <a:gdLst/>
            <a:ahLst/>
            <a:cxnLst/>
            <a:rect r="r" b="b" t="t" l="l"/>
            <a:pathLst>
              <a:path h="1519546" w="2187560">
                <a:moveTo>
                  <a:pt x="0" y="0"/>
                </a:moveTo>
                <a:lnTo>
                  <a:pt x="2187560" y="0"/>
                </a:lnTo>
                <a:lnTo>
                  <a:pt x="218756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4690499" y="2402942"/>
            <a:ext cx="1669611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Real-time updates via events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3278488" y="2350377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278488" y="2350377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798842" y="2995365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278488" y="3848060"/>
            <a:ext cx="4364182" cy="1727254"/>
          </a:xfrm>
          <a:custGeom>
            <a:avLst/>
            <a:gdLst/>
            <a:ahLst/>
            <a:cxnLst/>
            <a:rect r="r" b="b" t="t" l="l"/>
            <a:pathLst>
              <a:path h="1727254" w="4364182">
                <a:moveTo>
                  <a:pt x="0" y="0"/>
                </a:moveTo>
                <a:lnTo>
                  <a:pt x="4364182" y="0"/>
                </a:lnTo>
                <a:lnTo>
                  <a:pt x="4364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351818" y="3848060"/>
            <a:ext cx="8290852" cy="1727254"/>
          </a:xfrm>
          <a:custGeom>
            <a:avLst/>
            <a:gdLst/>
            <a:ahLst/>
            <a:cxnLst/>
            <a:rect r="r" b="b" t="t" l="l"/>
            <a:pathLst>
              <a:path h="1727254" w="8290852">
                <a:moveTo>
                  <a:pt x="0" y="0"/>
                </a:moveTo>
                <a:lnTo>
                  <a:pt x="8290852" y="0"/>
                </a:lnTo>
                <a:lnTo>
                  <a:pt x="829085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351818" y="7499343"/>
            <a:ext cx="6978316" cy="218640"/>
          </a:xfrm>
          <a:custGeom>
            <a:avLst/>
            <a:gdLst/>
            <a:ahLst/>
            <a:cxnLst/>
            <a:rect r="r" b="b" t="t" l="l"/>
            <a:pathLst>
              <a:path h="218640" w="6978316">
                <a:moveTo>
                  <a:pt x="0" y="0"/>
                </a:moveTo>
                <a:lnTo>
                  <a:pt x="6978316" y="0"/>
                </a:lnTo>
                <a:lnTo>
                  <a:pt x="697831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4691394" y="2090943"/>
            <a:ext cx="1580099" cy="22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617" b="true">
                <a:solidFill>
                  <a:srgbClr val="E16B15"/>
                </a:solidFill>
                <a:latin typeface="Roboto Bold"/>
                <a:ea typeface="Roboto Bold"/>
                <a:cs typeface="Roboto Bold"/>
                <a:sym typeface="Roboto Bold"/>
              </a:rPr>
              <a:t>EVENT STREAM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896005" y="9305086"/>
            <a:ext cx="1557275" cy="22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617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EVENT STREAM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00222" y="8913504"/>
            <a:ext cx="1135614" cy="22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617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HTTP REST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46176" y="4003670"/>
            <a:ext cx="859310" cy="22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b="true" sz="1617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CLIENTS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540" y="728359"/>
            <a:ext cx="6734325" cy="181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6480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Research Context &amp; Methodology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4570" y="3463990"/>
            <a:ext cx="6231288" cy="126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Students and small teams face a </a:t>
            </a:r>
            <a:r>
              <a:rPr lang="en-US" sz="2487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choice: simplicity and speed </a:t>
            </a:r>
            <a:r>
              <a:rPr lang="en-US" sz="24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versus </a:t>
            </a:r>
            <a:r>
              <a:rPr lang="en-US" sz="2487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scalability and independence.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275" y="5135743"/>
            <a:ext cx="6160765" cy="84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We compare monolithic and microservices architectures under the </a:t>
            </a:r>
            <a:r>
              <a:rPr lang="en-US" sz="2487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same conditions.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9719" y="6385793"/>
            <a:ext cx="5716343" cy="84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Our objective: evaluate </a:t>
            </a:r>
            <a:r>
              <a:rPr lang="en-US" sz="2487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maintainability</a:t>
            </a:r>
            <a:r>
              <a:rPr lang="en-US" sz="24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87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scalability</a:t>
            </a:r>
            <a:r>
              <a:rPr lang="en-US" sz="24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2487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</a:t>
            </a:r>
            <a:r>
              <a:rPr lang="en-US" sz="24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trade-offs.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748622" y="2142670"/>
            <a:ext cx="6759560" cy="5367606"/>
          </a:xfrm>
          <a:custGeom>
            <a:avLst/>
            <a:gdLst/>
            <a:ahLst/>
            <a:cxnLst/>
            <a:rect r="r" b="b" t="t" l="l"/>
            <a:pathLst>
              <a:path h="5367606" w="6759560">
                <a:moveTo>
                  <a:pt x="0" y="0"/>
                </a:moveTo>
                <a:lnTo>
                  <a:pt x="6759560" y="0"/>
                </a:lnTo>
                <a:lnTo>
                  <a:pt x="6759560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3818" y="634055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205664">
            <a:off x="14456509" y="1273389"/>
            <a:ext cx="1934085" cy="65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8"/>
              </a:lnSpc>
            </a:pPr>
            <a:r>
              <a:rPr lang="en-US" sz="2223">
                <a:solidFill>
                  <a:srgbClr val="D76B26"/>
                </a:solidFill>
                <a:latin typeface="Roboto"/>
                <a:ea typeface="Roboto"/>
                <a:cs typeface="Roboto"/>
                <a:sym typeface="Roboto"/>
              </a:rPr>
              <a:t>AUTOCANNON</a:t>
            </a:r>
          </a:p>
          <a:p>
            <a:pPr algn="ctr">
              <a:lnSpc>
                <a:spcPts val="2668"/>
              </a:lnSpc>
            </a:pPr>
            <a:r>
              <a:rPr lang="en-US" sz="2223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load testing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923818" y="2350377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61330" y="2776725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242578">
            <a:off x="15223262" y="2972183"/>
            <a:ext cx="946209" cy="51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4"/>
              </a:lnSpc>
            </a:pPr>
            <a:r>
              <a:rPr lang="en-US" sz="2074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</a:p>
          <a:p>
            <a:pPr algn="ctr">
              <a:lnSpc>
                <a:spcPts val="2074"/>
              </a:lnSpc>
            </a:pPr>
            <a:r>
              <a:rPr lang="en-US" sz="2074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desktop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923818" y="3848060"/>
            <a:ext cx="3718852" cy="1945894"/>
          </a:xfrm>
          <a:custGeom>
            <a:avLst/>
            <a:gdLst/>
            <a:ahLst/>
            <a:cxnLst/>
            <a:rect r="r" b="b" t="t" l="l"/>
            <a:pathLst>
              <a:path h="1945894" w="3718852">
                <a:moveTo>
                  <a:pt x="0" y="0"/>
                </a:moveTo>
                <a:lnTo>
                  <a:pt x="3718852" y="0"/>
                </a:lnTo>
                <a:lnTo>
                  <a:pt x="3718852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326953">
            <a:off x="14539388" y="4526543"/>
            <a:ext cx="1768662" cy="6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2179">
                <a:solidFill>
                  <a:srgbClr val="D76B26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</a:p>
          <a:p>
            <a:pPr algn="ctr">
              <a:lnSpc>
                <a:spcPts val="2616"/>
              </a:lnSpc>
            </a:pPr>
            <a:r>
              <a:rPr lang="en-US" sz="217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container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923818" y="5564382"/>
            <a:ext cx="3718852" cy="1945894"/>
          </a:xfrm>
          <a:custGeom>
            <a:avLst/>
            <a:gdLst/>
            <a:ahLst/>
            <a:cxnLst/>
            <a:rect r="r" b="b" t="t" l="l"/>
            <a:pathLst>
              <a:path h="1945894" w="3718852">
                <a:moveTo>
                  <a:pt x="0" y="0"/>
                </a:moveTo>
                <a:lnTo>
                  <a:pt x="3718852" y="0"/>
                </a:lnTo>
                <a:lnTo>
                  <a:pt x="3718852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448242">
            <a:off x="14789864" y="6234009"/>
            <a:ext cx="1285381" cy="4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"/>
              </a:lnSpc>
            </a:pPr>
            <a:r>
              <a:rPr lang="en-US" sz="1652">
                <a:solidFill>
                  <a:srgbClr val="D76B26"/>
                </a:solidFill>
                <a:latin typeface="Roboto"/>
                <a:ea typeface="Roboto"/>
                <a:cs typeface="Roboto"/>
                <a:sym typeface="Roboto"/>
              </a:rPr>
              <a:t>LAPTOP</a:t>
            </a:r>
          </a:p>
          <a:p>
            <a:pPr algn="ctr">
              <a:lnSpc>
                <a:spcPts val="1983"/>
              </a:lnSpc>
            </a:pPr>
            <a:r>
              <a:rPr lang="en-US" sz="1652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host machine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497244" y="1279043"/>
            <a:ext cx="656268" cy="5586245"/>
          </a:xfrm>
          <a:custGeom>
            <a:avLst/>
            <a:gdLst/>
            <a:ahLst/>
            <a:cxnLst/>
            <a:rect r="r" b="b" t="t" l="l"/>
            <a:pathLst>
              <a:path h="5586245" w="656268">
                <a:moveTo>
                  <a:pt x="0" y="0"/>
                </a:moveTo>
                <a:lnTo>
                  <a:pt x="656268" y="0"/>
                </a:lnTo>
                <a:lnTo>
                  <a:pt x="656268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5330" y="7707051"/>
            <a:ext cx="16997340" cy="2153601"/>
          </a:xfrm>
          <a:custGeom>
            <a:avLst/>
            <a:gdLst/>
            <a:ahLst/>
            <a:cxnLst/>
            <a:rect r="r" b="b" t="t" l="l"/>
            <a:pathLst>
              <a:path h="2153601" w="16997340">
                <a:moveTo>
                  <a:pt x="0" y="0"/>
                </a:moveTo>
                <a:lnTo>
                  <a:pt x="16997340" y="0"/>
                </a:lnTo>
                <a:lnTo>
                  <a:pt x="16997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36481" y="8372571"/>
            <a:ext cx="2260477" cy="84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We measure what matters.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134488" y="813339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351274" y="8306792"/>
            <a:ext cx="653896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CPU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6778" y="8830698"/>
            <a:ext cx="2103462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Processor utilization and load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7831464" y="8133399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618773" y="8306792"/>
            <a:ext cx="730556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RAM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10827" y="8830698"/>
            <a:ext cx="1525100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Memory usage</a:t>
            </a:r>
          </a:p>
          <a:p>
            <a:pPr algn="l">
              <a:lnSpc>
                <a:spcPts val="2610"/>
              </a:lnSpc>
            </a:pPr>
            <a:r>
              <a:rPr lang="en-US" sz="17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and footprint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664354" y="813339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449935" y="8306792"/>
            <a:ext cx="1578387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NETWORK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49418" y="8830698"/>
            <a:ext cx="1630093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Throughput and bandwidth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923818" y="813339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639006" y="8306792"/>
            <a:ext cx="1461113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D76B26"/>
                </a:solidFill>
                <a:latin typeface="Roboto Bold"/>
                <a:ea typeface="Roboto Bold"/>
                <a:cs typeface="Roboto Bold"/>
                <a:sym typeface="Roboto Bold"/>
              </a:rPr>
              <a:t>LATENCY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38361" y="8830698"/>
            <a:ext cx="1525664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Response time</a:t>
            </a:r>
          </a:p>
          <a:p>
            <a:pPr algn="l">
              <a:lnSpc>
                <a:spcPts val="2610"/>
              </a:lnSpc>
            </a:pPr>
            <a:r>
              <a:rPr lang="en-US" sz="1740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under load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112" y="703556"/>
            <a:ext cx="9877032" cy="209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7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Baseline Idle Performance Metrics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683" y="3354887"/>
            <a:ext cx="9019939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26" b="true">
                <a:solidFill>
                  <a:srgbClr val="E87013"/>
                </a:solidFill>
                <a:latin typeface="Roboto Bold"/>
                <a:ea typeface="Roboto Bold"/>
                <a:cs typeface="Roboto Bold"/>
                <a:sym typeface="Roboto Bold"/>
              </a:rPr>
              <a:t>Microservices consume more resources even when idle.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2416" y="4539269"/>
            <a:ext cx="4052850" cy="40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b="true" sz="3032" spc="29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MEMORY FOOTPRINT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63986" y="4539269"/>
            <a:ext cx="2197642" cy="40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b="true" sz="3032" spc="29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CPU USAGE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2842" y="7925691"/>
            <a:ext cx="3281340" cy="1289974"/>
          </a:xfrm>
          <a:custGeom>
            <a:avLst/>
            <a:gdLst/>
            <a:ahLst/>
            <a:cxnLst/>
            <a:rect r="r" b="b" t="t" l="l"/>
            <a:pathLst>
              <a:path h="1289974" w="3281340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3196" y="7280704"/>
            <a:ext cx="1760986" cy="1300906"/>
          </a:xfrm>
          <a:custGeom>
            <a:avLst/>
            <a:gdLst/>
            <a:ahLst/>
            <a:cxnLst/>
            <a:rect r="r" b="b" t="t" l="l"/>
            <a:pathLst>
              <a:path h="1300906" w="1760986">
                <a:moveTo>
                  <a:pt x="0" y="0"/>
                </a:moveTo>
                <a:lnTo>
                  <a:pt x="1760986" y="0"/>
                </a:lnTo>
                <a:lnTo>
                  <a:pt x="176098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20666" y="6833942"/>
            <a:ext cx="1223634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~72MB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7532" y="9213554"/>
            <a:ext cx="1483697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96B9DB"/>
                </a:solidFill>
                <a:latin typeface="Roboto Bold"/>
                <a:ea typeface="Roboto Bold"/>
                <a:cs typeface="Roboto Bold"/>
                <a:sym typeface="Roboto Bold"/>
              </a:rPr>
              <a:t>Monolith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134488" y="7925691"/>
            <a:ext cx="3926670" cy="1289974"/>
          </a:xfrm>
          <a:custGeom>
            <a:avLst/>
            <a:gdLst/>
            <a:ahLst/>
            <a:cxnLst/>
            <a:rect r="r" b="b" t="t" l="l"/>
            <a:pathLst>
              <a:path h="1289974" w="3926670">
                <a:moveTo>
                  <a:pt x="0" y="0"/>
                </a:moveTo>
                <a:lnTo>
                  <a:pt x="3926670" y="0"/>
                </a:lnTo>
                <a:lnTo>
                  <a:pt x="392667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98574" y="5564382"/>
            <a:ext cx="1760986" cy="3017228"/>
          </a:xfrm>
          <a:custGeom>
            <a:avLst/>
            <a:gdLst/>
            <a:ahLst/>
            <a:cxnLst/>
            <a:rect r="r" b="b" t="t" l="l"/>
            <a:pathLst>
              <a:path h="3017228" w="1760986">
                <a:moveTo>
                  <a:pt x="0" y="0"/>
                </a:moveTo>
                <a:lnTo>
                  <a:pt x="1760986" y="0"/>
                </a:lnTo>
                <a:lnTo>
                  <a:pt x="176098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81655" y="5252553"/>
            <a:ext cx="1436200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E87013"/>
                </a:solidFill>
                <a:latin typeface="Roboto Bold"/>
                <a:ea typeface="Roboto Bold"/>
                <a:cs typeface="Roboto Bold"/>
                <a:sym typeface="Roboto Bold"/>
              </a:rPr>
              <a:t>~315MB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18365" y="9213554"/>
            <a:ext cx="2362781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E87013"/>
                </a:solidFill>
                <a:latin typeface="Roboto Bold"/>
                <a:ea typeface="Roboto Bold"/>
                <a:cs typeface="Roboto Bold"/>
                <a:sym typeface="Roboto Bold"/>
              </a:rPr>
              <a:t>Microservices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28451" y="6728545"/>
            <a:ext cx="1550560" cy="83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b="true" sz="6287" spc="-61">
                <a:solidFill>
                  <a:srgbClr val="F1700F"/>
                </a:solidFill>
                <a:latin typeface="Roboto Bold"/>
                <a:ea typeface="Roboto Bold"/>
                <a:cs typeface="Roboto Bold"/>
                <a:sym typeface="Roboto Bold"/>
              </a:rPr>
              <a:t>4.3x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61408" y="7526740"/>
            <a:ext cx="1063367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E87013"/>
                </a:solidFill>
                <a:latin typeface="Roboto Bold"/>
                <a:ea typeface="Roboto Bold"/>
                <a:cs typeface="Roboto Bold"/>
                <a:sym typeface="Roboto Bold"/>
              </a:rPr>
              <a:t>higher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4000" y="7925691"/>
            <a:ext cx="3270402" cy="1289974"/>
          </a:xfrm>
          <a:custGeom>
            <a:avLst/>
            <a:gdLst/>
            <a:ahLst/>
            <a:cxnLst/>
            <a:rect r="r" b="b" t="t" l="l"/>
            <a:pathLst>
              <a:path h="1289974" w="3270402">
                <a:moveTo>
                  <a:pt x="0" y="0"/>
                </a:moveTo>
                <a:lnTo>
                  <a:pt x="3270402" y="0"/>
                </a:lnTo>
                <a:lnTo>
                  <a:pt x="327040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45598" y="7925691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140672" y="9213554"/>
            <a:ext cx="1483697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96B9DB"/>
                </a:solidFill>
                <a:latin typeface="Roboto Bold"/>
                <a:ea typeface="Roboto Bold"/>
                <a:cs typeface="Roboto Bold"/>
                <a:sym typeface="Roboto Bold"/>
              </a:rPr>
              <a:t>Monolith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403464" y="7925691"/>
            <a:ext cx="3500096" cy="1289974"/>
          </a:xfrm>
          <a:custGeom>
            <a:avLst/>
            <a:gdLst/>
            <a:ahLst/>
            <a:cxnLst/>
            <a:rect r="r" b="b" t="t" l="l"/>
            <a:pathLst>
              <a:path h="1289974" w="3500096">
                <a:moveTo>
                  <a:pt x="0" y="0"/>
                </a:moveTo>
                <a:lnTo>
                  <a:pt x="3500096" y="0"/>
                </a:lnTo>
                <a:lnTo>
                  <a:pt x="3500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59732" y="5990729"/>
            <a:ext cx="1750048" cy="2590881"/>
          </a:xfrm>
          <a:custGeom>
            <a:avLst/>
            <a:gdLst/>
            <a:ahLst/>
            <a:cxnLst/>
            <a:rect r="r" b="b" t="t" l="l"/>
            <a:pathLst>
              <a:path h="2590881" w="1750048">
                <a:moveTo>
                  <a:pt x="0" y="0"/>
                </a:moveTo>
                <a:lnTo>
                  <a:pt x="1750048" y="0"/>
                </a:lnTo>
                <a:lnTo>
                  <a:pt x="1750048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466641" y="5704378"/>
            <a:ext cx="1046823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E87013"/>
                </a:solidFill>
                <a:latin typeface="Roboto Bold"/>
                <a:ea typeface="Roboto Bold"/>
                <a:cs typeface="Roboto Bold"/>
                <a:sym typeface="Roboto Bold"/>
              </a:rPr>
              <a:t>~0.8%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08662" y="9213554"/>
            <a:ext cx="2362781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E87013"/>
                </a:solidFill>
                <a:latin typeface="Roboto Bold"/>
                <a:ea typeface="Roboto Bold"/>
                <a:cs typeface="Roboto Bold"/>
                <a:sym typeface="Roboto Bold"/>
              </a:rPr>
              <a:t>Microservices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49068" y="7466497"/>
            <a:ext cx="995950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26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&lt;0.1%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655" y="751130"/>
            <a:ext cx="7743834" cy="178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3"/>
              </a:lnSpc>
            </a:pPr>
            <a:r>
              <a:rPr lang="en-US" sz="6566" spc="-131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Load Testing Performance Results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569017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9365" y="3239775"/>
            <a:ext cx="6072906" cy="38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759" spc="-55">
                <a:solidFill>
                  <a:srgbClr val="E88043"/>
                </a:solidFill>
                <a:latin typeface="Roboto"/>
                <a:ea typeface="Roboto"/>
                <a:cs typeface="Roboto"/>
                <a:sym typeface="Roboto"/>
              </a:rPr>
              <a:t>Monolith vs Microservices under stress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848060"/>
            <a:ext cx="8072096" cy="5586245"/>
          </a:xfrm>
          <a:custGeom>
            <a:avLst/>
            <a:gdLst/>
            <a:ahLst/>
            <a:cxnLst/>
            <a:rect r="r" b="b" t="t" l="l"/>
            <a:pathLst>
              <a:path h="5586245" w="8072096">
                <a:moveTo>
                  <a:pt x="0" y="0"/>
                </a:moveTo>
                <a:lnTo>
                  <a:pt x="8072096" y="0"/>
                </a:lnTo>
                <a:lnTo>
                  <a:pt x="807209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1004" y="4962062"/>
            <a:ext cx="1376991" cy="28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2109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Throughput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5948" y="5865712"/>
            <a:ext cx="1882548" cy="28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2109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Average latency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68217" y="5769931"/>
            <a:ext cx="1436118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24.5 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963" y="6784424"/>
            <a:ext cx="1381059" cy="28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2109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P95 latency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8217" y="6688642"/>
            <a:ext cx="1436118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41.2 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3028" y="7718196"/>
            <a:ext cx="1174525" cy="28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2109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Peak CPU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71830" y="7622414"/>
            <a:ext cx="1074851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24.5%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2442" y="8682090"/>
            <a:ext cx="1233109" cy="28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2109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Peak 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75810" y="8571247"/>
            <a:ext cx="676766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115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49683" y="4208502"/>
            <a:ext cx="1326187" cy="2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784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MONOLITHIC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0651" y="4208502"/>
            <a:ext cx="1762260" cy="2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b="true" sz="1784" spc="-35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 MICROSERVICES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77234" y="7622414"/>
            <a:ext cx="1103939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 b="true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68.1%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81353" y="8571247"/>
            <a:ext cx="692022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 b="true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480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43403" y="2004414"/>
            <a:ext cx="1965796" cy="34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1"/>
              </a:lnSpc>
            </a:pPr>
            <a:r>
              <a:rPr lang="en-US" b="true" sz="248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MONOLITHIC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09902" y="2004414"/>
            <a:ext cx="2508783" cy="34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1"/>
              </a:lnSpc>
            </a:pPr>
            <a:r>
              <a:rPr lang="en-US" b="true" sz="2487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MICROSERVICES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925244" y="2569017"/>
            <a:ext cx="3926670" cy="3651284"/>
          </a:xfrm>
          <a:custGeom>
            <a:avLst/>
            <a:gdLst/>
            <a:ahLst/>
            <a:cxnLst/>
            <a:rect r="r" b="b" t="t" l="l"/>
            <a:pathLst>
              <a:path h="3651284" w="3926670">
                <a:moveTo>
                  <a:pt x="0" y="0"/>
                </a:moveTo>
                <a:lnTo>
                  <a:pt x="3926670" y="0"/>
                </a:lnTo>
                <a:lnTo>
                  <a:pt x="392667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22220" y="2776725"/>
            <a:ext cx="5239206" cy="3662216"/>
          </a:xfrm>
          <a:custGeom>
            <a:avLst/>
            <a:gdLst/>
            <a:ahLst/>
            <a:cxnLst/>
            <a:rect r="r" b="b" t="t" l="l"/>
            <a:pathLst>
              <a:path h="3662216" w="5239206">
                <a:moveTo>
                  <a:pt x="0" y="0"/>
                </a:moveTo>
                <a:lnTo>
                  <a:pt x="5239206" y="0"/>
                </a:lnTo>
                <a:lnTo>
                  <a:pt x="5239206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351818" y="6428009"/>
            <a:ext cx="3718852" cy="1716322"/>
          </a:xfrm>
          <a:custGeom>
            <a:avLst/>
            <a:gdLst/>
            <a:ahLst/>
            <a:cxnLst/>
            <a:rect r="r" b="b" t="t" l="l"/>
            <a:pathLst>
              <a:path h="1716322" w="3718852">
                <a:moveTo>
                  <a:pt x="0" y="0"/>
                </a:moveTo>
                <a:lnTo>
                  <a:pt x="3718852" y="0"/>
                </a:lnTo>
                <a:lnTo>
                  <a:pt x="3718852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632314" y="6648358"/>
            <a:ext cx="1174877" cy="2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784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CPU USAGE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58740" y="7068235"/>
            <a:ext cx="1211143" cy="48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577" spc="-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24.5%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570574" y="7499343"/>
            <a:ext cx="3281340" cy="437279"/>
          </a:xfrm>
          <a:custGeom>
            <a:avLst/>
            <a:gdLst/>
            <a:ahLst/>
            <a:cxnLst/>
            <a:rect r="r" b="b" t="t" l="l"/>
            <a:pathLst>
              <a:path h="437279" w="3281340">
                <a:moveTo>
                  <a:pt x="0" y="0"/>
                </a:moveTo>
                <a:lnTo>
                  <a:pt x="3281340" y="0"/>
                </a:lnTo>
                <a:lnTo>
                  <a:pt x="328134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654011" y="8229746"/>
            <a:ext cx="1684040" cy="2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784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MEMORY USAGE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570574" y="8997026"/>
            <a:ext cx="3281340" cy="437279"/>
          </a:xfrm>
          <a:custGeom>
            <a:avLst/>
            <a:gdLst/>
            <a:ahLst/>
            <a:cxnLst/>
            <a:rect r="r" b="b" t="t" l="l"/>
            <a:pathLst>
              <a:path h="437279" w="3281340">
                <a:moveTo>
                  <a:pt x="0" y="0"/>
                </a:moveTo>
                <a:lnTo>
                  <a:pt x="3281340" y="0"/>
                </a:lnTo>
                <a:lnTo>
                  <a:pt x="328134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78488" y="6428009"/>
            <a:ext cx="4145426" cy="1716322"/>
          </a:xfrm>
          <a:custGeom>
            <a:avLst/>
            <a:gdLst/>
            <a:ahLst/>
            <a:cxnLst/>
            <a:rect r="r" b="b" t="t" l="l"/>
            <a:pathLst>
              <a:path h="1716322" w="4145426">
                <a:moveTo>
                  <a:pt x="0" y="0"/>
                </a:moveTo>
                <a:lnTo>
                  <a:pt x="4145426" y="0"/>
                </a:lnTo>
                <a:lnTo>
                  <a:pt x="4145426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704251" y="6648358"/>
            <a:ext cx="1174877" cy="2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784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CPU USAGE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03889" y="7068235"/>
            <a:ext cx="1211143" cy="48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577" spc="-71" b="true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68.1%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716000" y="7499343"/>
            <a:ext cx="3270402" cy="437279"/>
          </a:xfrm>
          <a:custGeom>
            <a:avLst/>
            <a:gdLst/>
            <a:ahLst/>
            <a:cxnLst/>
            <a:rect r="r" b="b" t="t" l="l"/>
            <a:pathLst>
              <a:path h="437279" w="3270402">
                <a:moveTo>
                  <a:pt x="0" y="0"/>
                </a:moveTo>
                <a:lnTo>
                  <a:pt x="3270402" y="0"/>
                </a:lnTo>
                <a:lnTo>
                  <a:pt x="327040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699160" y="8229746"/>
            <a:ext cx="1684040" cy="2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784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MEMORY USAGE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716000" y="8997026"/>
            <a:ext cx="3270402" cy="437279"/>
          </a:xfrm>
          <a:custGeom>
            <a:avLst/>
            <a:gdLst/>
            <a:ahLst/>
            <a:cxnLst/>
            <a:rect r="r" b="b" t="t" l="l"/>
            <a:pathLst>
              <a:path h="437279" w="3270402">
                <a:moveTo>
                  <a:pt x="0" y="0"/>
                </a:moveTo>
                <a:lnTo>
                  <a:pt x="3270402" y="0"/>
                </a:lnTo>
                <a:lnTo>
                  <a:pt x="327040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179046" y="4851220"/>
            <a:ext cx="922696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 b="true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1180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73555" y="4851220"/>
            <a:ext cx="902354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3420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77920" y="6688642"/>
            <a:ext cx="1035388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 b="true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142.6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08408" y="8649624"/>
            <a:ext cx="759224" cy="48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577" spc="-71" b="true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480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80226" y="5769931"/>
            <a:ext cx="804714" cy="4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3168" spc="-63" b="true">
                <a:solidFill>
                  <a:srgbClr val="E88043"/>
                </a:solidFill>
                <a:latin typeface="Roboto Bold"/>
                <a:ea typeface="Roboto Bold"/>
                <a:cs typeface="Roboto Bold"/>
                <a:sym typeface="Roboto Bold"/>
              </a:rPr>
              <a:t>24.2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3259" y="8649624"/>
            <a:ext cx="759224" cy="48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577" spc="-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115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5768" y="569035"/>
            <a:ext cx="9148170" cy="193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6"/>
              </a:lnSpc>
            </a:pPr>
            <a:r>
              <a:rPr lang="en-US" sz="7354" spc="-71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Discussion and Practical Implications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8936182" cy="1508614"/>
          </a:xfrm>
          <a:custGeom>
            <a:avLst/>
            <a:gdLst/>
            <a:ahLst/>
            <a:cxnLst/>
            <a:rect r="r" b="b" t="t" l="l"/>
            <a:pathLst>
              <a:path h="1508614" w="8936182">
                <a:moveTo>
                  <a:pt x="0" y="0"/>
                </a:moveTo>
                <a:lnTo>
                  <a:pt x="8936182" y="0"/>
                </a:lnTo>
                <a:lnTo>
                  <a:pt x="893618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4086" y="3642820"/>
            <a:ext cx="857767" cy="79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5868" spc="-57" b="true">
                <a:solidFill>
                  <a:srgbClr val="E46219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603196" y="3421712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01064" y="3564039"/>
            <a:ext cx="5288941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Microservices introduce severe performance and resource penalties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4711687"/>
            <a:ext cx="8936182" cy="1727254"/>
          </a:xfrm>
          <a:custGeom>
            <a:avLst/>
            <a:gdLst/>
            <a:ahLst/>
            <a:cxnLst/>
            <a:rect r="r" b="b" t="t" l="l"/>
            <a:pathLst>
              <a:path h="1727254" w="8936182">
                <a:moveTo>
                  <a:pt x="0" y="0"/>
                </a:moveTo>
                <a:lnTo>
                  <a:pt x="8936182" y="0"/>
                </a:lnTo>
                <a:lnTo>
                  <a:pt x="8936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4086" y="5239269"/>
            <a:ext cx="857767" cy="79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5868" spc="-57" b="true">
                <a:solidFill>
                  <a:srgbClr val="E46219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03196" y="5138034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97665" y="5145427"/>
            <a:ext cx="5628801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Higher memory usage from duplicated runtimes and dependencies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6428009"/>
            <a:ext cx="8936182" cy="1508614"/>
          </a:xfrm>
          <a:custGeom>
            <a:avLst/>
            <a:gdLst/>
            <a:ahLst/>
            <a:cxnLst/>
            <a:rect r="r" b="b" t="t" l="l"/>
            <a:pathLst>
              <a:path h="1508614" w="8936182">
                <a:moveTo>
                  <a:pt x="0" y="0"/>
                </a:moveTo>
                <a:lnTo>
                  <a:pt x="8936182" y="0"/>
                </a:lnTo>
                <a:lnTo>
                  <a:pt x="893618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04086" y="6820657"/>
            <a:ext cx="857767" cy="79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5868" spc="-57" b="true">
                <a:solidFill>
                  <a:srgbClr val="E46219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603196" y="6635716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93228" y="6711755"/>
            <a:ext cx="6072475" cy="8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Network overhead leads to latency spikes and increased CPU load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5330" y="7925691"/>
            <a:ext cx="8936182" cy="1508614"/>
          </a:xfrm>
          <a:custGeom>
            <a:avLst/>
            <a:gdLst/>
            <a:ahLst/>
            <a:cxnLst/>
            <a:rect r="r" b="b" t="t" l="l"/>
            <a:pathLst>
              <a:path h="1508614" w="8936182">
                <a:moveTo>
                  <a:pt x="0" y="0"/>
                </a:moveTo>
                <a:lnTo>
                  <a:pt x="8936182" y="0"/>
                </a:lnTo>
                <a:lnTo>
                  <a:pt x="893618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04086" y="8402045"/>
            <a:ext cx="857767" cy="79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5868" spc="-57" b="true">
                <a:solidFill>
                  <a:srgbClr val="E46219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603196" y="813339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993347" y="8187717"/>
            <a:ext cx="6060643" cy="123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25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Monolithic architecture is the better fit for solo developers and student projects with hardware constraints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226842" y="1497682"/>
            <a:ext cx="7415828" cy="8155262"/>
          </a:xfrm>
          <a:custGeom>
            <a:avLst/>
            <a:gdLst/>
            <a:ahLst/>
            <a:cxnLst/>
            <a:rect r="r" b="b" t="t" l="l"/>
            <a:pathLst>
              <a:path h="8155262" w="7415828">
                <a:moveTo>
                  <a:pt x="0" y="0"/>
                </a:moveTo>
                <a:lnTo>
                  <a:pt x="7415828" y="0"/>
                </a:lnTo>
                <a:lnTo>
                  <a:pt x="7415828" y="8155263"/>
                </a:lnTo>
                <a:lnTo>
                  <a:pt x="0" y="81552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6241" y="1003267"/>
            <a:ext cx="6669688" cy="206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1"/>
              </a:lnSpc>
            </a:pPr>
            <a:r>
              <a:rPr lang="en-US" sz="7403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Conclusion and Future Work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421712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3321" y="4199757"/>
            <a:ext cx="5961665" cy="128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Monolithic architecture delivers </a:t>
            </a:r>
            <a:r>
              <a:rPr lang="en-US" sz="2654" b="true">
                <a:solidFill>
                  <a:srgbClr val="D1681E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better performance, simplicity, and resource efficiency</a:t>
            </a: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in constrained environments.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7371" y="6154319"/>
            <a:ext cx="5556635" cy="128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Microservices introduce </a:t>
            </a:r>
            <a:r>
              <a:rPr lang="en-US" sz="2654" b="true">
                <a:solidFill>
                  <a:srgbClr val="D1681E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complexity and overhead</a:t>
            </a: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not ideal for</a:t>
            </a:r>
          </a:p>
          <a:p>
            <a:pPr algn="l">
              <a:lnSpc>
                <a:spcPts val="3450"/>
              </a:lnSpc>
            </a:pP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low resource environments.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678" y="7991742"/>
            <a:ext cx="4825972" cy="128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Future work will explore binary protocols like </a:t>
            </a:r>
            <a:r>
              <a:rPr lang="en-US" sz="2654" b="true">
                <a:solidFill>
                  <a:srgbClr val="D1681E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gRPC</a:t>
            </a: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to reduce</a:t>
            </a:r>
          </a:p>
          <a:p>
            <a:pPr algn="l">
              <a:lnSpc>
                <a:spcPts val="3450"/>
              </a:lnSpc>
            </a:pPr>
            <a:r>
              <a:rPr lang="en-US" sz="2654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latency and improve efficiency.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529866" y="2350377"/>
            <a:ext cx="3489158" cy="3869923"/>
          </a:xfrm>
          <a:custGeom>
            <a:avLst/>
            <a:gdLst/>
            <a:ahLst/>
            <a:cxnLst/>
            <a:rect r="r" b="b" t="t" l="l"/>
            <a:pathLst>
              <a:path h="3869923" w="3489158">
                <a:moveTo>
                  <a:pt x="0" y="0"/>
                </a:moveTo>
                <a:lnTo>
                  <a:pt x="3489158" y="0"/>
                </a:lnTo>
                <a:lnTo>
                  <a:pt x="3489158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4919394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89330" y="2995365"/>
            <a:ext cx="5020450" cy="4514911"/>
          </a:xfrm>
          <a:custGeom>
            <a:avLst/>
            <a:gdLst/>
            <a:ahLst/>
            <a:cxnLst/>
            <a:rect r="r" b="b" t="t" l="l"/>
            <a:pathLst>
              <a:path h="4514911" w="5020450">
                <a:moveTo>
                  <a:pt x="0" y="0"/>
                </a:moveTo>
                <a:lnTo>
                  <a:pt x="5020450" y="0"/>
                </a:lnTo>
                <a:lnTo>
                  <a:pt x="502045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16000" y="5990729"/>
            <a:ext cx="1531292" cy="874559"/>
          </a:xfrm>
          <a:custGeom>
            <a:avLst/>
            <a:gdLst/>
            <a:ahLst/>
            <a:cxnLst/>
            <a:rect r="r" b="b" t="t" l="l"/>
            <a:pathLst>
              <a:path h="874559" w="1531292">
                <a:moveTo>
                  <a:pt x="0" y="0"/>
                </a:moveTo>
                <a:lnTo>
                  <a:pt x="1531292" y="0"/>
                </a:lnTo>
                <a:lnTo>
                  <a:pt x="153129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61330" y="4066699"/>
            <a:ext cx="3926670" cy="4941258"/>
          </a:xfrm>
          <a:custGeom>
            <a:avLst/>
            <a:gdLst/>
            <a:ahLst/>
            <a:cxnLst/>
            <a:rect r="r" b="b" t="t" l="l"/>
            <a:pathLst>
              <a:path h="4941258" w="3926670">
                <a:moveTo>
                  <a:pt x="0" y="0"/>
                </a:moveTo>
                <a:lnTo>
                  <a:pt x="3926670" y="0"/>
                </a:lnTo>
                <a:lnTo>
                  <a:pt x="392667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1197070">
            <a:off x="15706098" y="5567216"/>
            <a:ext cx="1222233" cy="5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sz="3805">
                <a:solidFill>
                  <a:srgbClr val="FFBD59"/>
                </a:solidFill>
                <a:latin typeface="Roboto"/>
                <a:ea typeface="Roboto"/>
                <a:cs typeface="Roboto"/>
                <a:sym typeface="Roboto"/>
              </a:rPr>
              <a:t>gRPC</a:t>
            </a:r>
          </a:p>
        </p:txBody>
      </p:sp>
      <p:sp>
        <p:nvSpPr>
          <p:cNvPr name="TextBox 14" id="14"/>
          <p:cNvSpPr txBox="true"/>
          <p:nvPr/>
        </p:nvSpPr>
        <p:spPr>
          <a:xfrm rot="1197070">
            <a:off x="14455076" y="7972140"/>
            <a:ext cx="2493042" cy="29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FUTURE EXPLORATION</a:t>
            </a:r>
          </a:p>
        </p:txBody>
      </p:sp>
      <p:sp>
        <p:nvSpPr>
          <p:cNvPr name="TextBox 15" id="15"/>
          <p:cNvSpPr txBox="true"/>
          <p:nvPr/>
        </p:nvSpPr>
        <p:spPr>
          <a:xfrm rot="1197070">
            <a:off x="10286087" y="6360613"/>
            <a:ext cx="1916143" cy="30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MICROSERVICES</a:t>
            </a:r>
          </a:p>
        </p:txBody>
      </p:sp>
      <p:sp>
        <p:nvSpPr>
          <p:cNvPr name="TextBox 16" id="16"/>
          <p:cNvSpPr txBox="true"/>
          <p:nvPr/>
        </p:nvSpPr>
        <p:spPr>
          <a:xfrm rot="1197070">
            <a:off x="6848115" y="5456979"/>
            <a:ext cx="1429929" cy="29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MONOLITHIC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93952" y="2776725"/>
            <a:ext cx="4582938" cy="4941258"/>
          </a:xfrm>
          <a:custGeom>
            <a:avLst/>
            <a:gdLst/>
            <a:ahLst/>
            <a:cxnLst/>
            <a:rect r="r" b="b" t="t" l="l"/>
            <a:pathLst>
              <a:path h="4941258" w="4582938">
                <a:moveTo>
                  <a:pt x="0" y="0"/>
                </a:moveTo>
                <a:lnTo>
                  <a:pt x="4582938" y="0"/>
                </a:lnTo>
                <a:lnTo>
                  <a:pt x="4582938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8440" y="1705390"/>
            <a:ext cx="6332986" cy="4088563"/>
          </a:xfrm>
          <a:custGeom>
            <a:avLst/>
            <a:gdLst/>
            <a:ahLst/>
            <a:cxnLst/>
            <a:rect r="r" b="b" t="t" l="l"/>
            <a:pathLst>
              <a:path h="4088563" w="6332986">
                <a:moveTo>
                  <a:pt x="0" y="0"/>
                </a:moveTo>
                <a:lnTo>
                  <a:pt x="6332986" y="0"/>
                </a:lnTo>
                <a:lnTo>
                  <a:pt x="633298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1866" y="4919394"/>
            <a:ext cx="6759560" cy="4514911"/>
          </a:xfrm>
          <a:custGeom>
            <a:avLst/>
            <a:gdLst/>
            <a:ahLst/>
            <a:cxnLst/>
            <a:rect r="r" b="b" t="t" l="l"/>
            <a:pathLst>
              <a:path h="4514911" w="6759560">
                <a:moveTo>
                  <a:pt x="0" y="0"/>
                </a:moveTo>
                <a:lnTo>
                  <a:pt x="6759560" y="0"/>
                </a:lnTo>
                <a:lnTo>
                  <a:pt x="6759560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2211" y="1307245"/>
            <a:ext cx="6109338" cy="26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7"/>
              </a:lnSpc>
            </a:pPr>
            <a:r>
              <a:rPr lang="en-US" sz="977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 and Q&amp;A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285339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8481" y="4804511"/>
            <a:ext cx="6161236" cy="5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3616" b="true">
                <a:solidFill>
                  <a:srgbClr val="E86B1D"/>
                </a:solidFill>
                <a:latin typeface="Roboto Bold"/>
                <a:ea typeface="Roboto Bold"/>
                <a:cs typeface="Roboto Bold"/>
                <a:sym typeface="Roboto Bold"/>
              </a:rPr>
              <a:t>Thank you for your attention.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508" y="6681496"/>
            <a:ext cx="6158562" cy="89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I'm happy to take your questions</a:t>
            </a:r>
          </a:p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 discuss any aspect in more detail.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906" y="8021846"/>
            <a:ext cx="5818819" cy="44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Let's build better software,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DAHW7YZhqGQ</dc:identifier>
  <dcterms:modified xsi:type="dcterms:W3CDTF">2011-08-01T06:04:30Z</dcterms:modified>
  <cp:revision>1</cp:revision>
  <dc:title>Monolith vs Microservices</dc:title>
</cp:coreProperties>
</file>